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notesMasterIdLst>
    <p:notesMasterId r:id="rId12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14630400" cy="8229600"/>
  <p:notesSz cx="8229600" cy="14630400"/>
  <p:embeddedFontLst>
    <p:embeddedFont>
      <p:font typeface="Instrument Sans Medium" panose="020B0604020202020204" charset="0"/>
      <p:regular r:id="rId13"/>
    </p:embeddedFont>
    <p:embeddedFont>
      <p:font typeface="Inter" panose="020B0604020202020204" charset="0"/>
      <p:regular r:id="rId14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74" d="100"/>
          <a:sy n="74" d="100"/>
        </p:scale>
        <p:origin x="446" y="7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1.fntdata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2.fntdata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88560633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81719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242429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2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81719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242429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3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81719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242429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4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81719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242429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5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81719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242429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6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81719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242429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7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81719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242429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8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81719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242429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9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81719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242429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0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81719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242429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4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4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7" Type="http://schemas.openxmlformats.org/officeDocument/2006/relationships/image" Target="../media/image4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5.xml"/><Relationship Id="rId6" Type="http://schemas.openxmlformats.org/officeDocument/2006/relationships/image" Target="../media/image9.png"/><Relationship Id="rId5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sv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4.png"/><Relationship Id="rId5" Type="http://schemas.openxmlformats.org/officeDocument/2006/relationships/image" Target="../media/image12.svg"/><Relationship Id="rId4" Type="http://schemas.openxmlformats.org/officeDocument/2006/relationships/image" Target="../media/image11.sv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4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4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9.xml"/><Relationship Id="rId5" Type="http://schemas.openxmlformats.org/officeDocument/2006/relationships/image" Target="../media/image4.png"/><Relationship Id="rId4" Type="http://schemas.openxmlformats.org/officeDocument/2006/relationships/image" Target="../media/image16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0.xml"/><Relationship Id="rId4" Type="http://schemas.openxmlformats.org/officeDocument/2006/relationships/image" Target="../media/image4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44000" y="0"/>
            <a:ext cx="548640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793790" y="2019657"/>
            <a:ext cx="7556421" cy="141755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5550"/>
              </a:lnSpc>
              <a:buNone/>
            </a:pPr>
            <a:r>
              <a:rPr lang="en-US" sz="4450" dirty="0">
                <a:solidFill>
                  <a:srgbClr val="EFD5FA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PyroWatch: Fire Detection System</a:t>
            </a:r>
            <a:endParaRPr lang="en-US" sz="4450" dirty="0"/>
          </a:p>
        </p:txBody>
      </p:sp>
      <p:sp>
        <p:nvSpPr>
          <p:cNvPr id="4" name="Text 1"/>
          <p:cNvSpPr/>
          <p:nvPr/>
        </p:nvSpPr>
        <p:spPr>
          <a:xfrm>
            <a:off x="793790" y="3777377"/>
            <a:ext cx="7556421" cy="10887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b="1" dirty="0">
                <a:solidFill>
                  <a:srgbClr val="C7CDD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AI-POWERED WILDFIRE DETECTION, RISK ASSESSMENT, AND SPREAD PREDICTION</a:t>
            </a:r>
            <a:r>
              <a:rPr lang="en-US" sz="1750" dirty="0">
                <a:solidFill>
                  <a:srgbClr val="C7CDD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— integrating deep learning, satellite data, and weather intelligence.</a:t>
            </a:r>
            <a:endParaRPr lang="en-US" sz="1750" dirty="0"/>
          </a:p>
        </p:txBody>
      </p:sp>
      <p:sp>
        <p:nvSpPr>
          <p:cNvPr id="5" name="Text 2"/>
          <p:cNvSpPr/>
          <p:nvPr/>
        </p:nvSpPr>
        <p:spPr>
          <a:xfrm>
            <a:off x="793790" y="5121235"/>
            <a:ext cx="7556421" cy="10887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C7CDD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. SPARSH KUMAR - S24CSEU0428 </a:t>
            </a:r>
          </a:p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C7CDD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· SHIVRAJ SINGH BHATI - S24CSEU0511</a:t>
            </a:r>
          </a:p>
          <a:p>
            <a:pPr>
              <a:lnSpc>
                <a:spcPts val="2850"/>
              </a:lnSpc>
            </a:pPr>
            <a:r>
              <a:rPr lang="en-US" sz="1750" dirty="0">
                <a:solidFill>
                  <a:srgbClr val="C7CDD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. SAMAGRA GULATI - S24CSEU0451 </a:t>
            </a:r>
          </a:p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C7CDD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· SHIKHAR SHUKLA - S24CSEU412 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548640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280190" y="722590"/>
            <a:ext cx="5670590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550"/>
              </a:lnSpc>
              <a:buNone/>
            </a:pPr>
            <a:r>
              <a:rPr lang="en-US" sz="4450" dirty="0">
                <a:solidFill>
                  <a:srgbClr val="EFD5FA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The Problem</a:t>
            </a:r>
            <a:endParaRPr lang="en-US" sz="4450" dirty="0"/>
          </a:p>
        </p:txBody>
      </p:sp>
      <p:sp>
        <p:nvSpPr>
          <p:cNvPr id="4" name="Shape 1"/>
          <p:cNvSpPr/>
          <p:nvPr/>
        </p:nvSpPr>
        <p:spPr>
          <a:xfrm>
            <a:off x="6280190" y="1771531"/>
            <a:ext cx="3664744" cy="3475792"/>
          </a:xfrm>
          <a:prstGeom prst="roundRect">
            <a:avLst>
              <a:gd name="adj" fmla="val 979"/>
            </a:avLst>
          </a:prstGeom>
          <a:solidFill>
            <a:srgbClr val="434348"/>
          </a:solidFill>
          <a:ln/>
        </p:spPr>
      </p:sp>
      <p:sp>
        <p:nvSpPr>
          <p:cNvPr id="5" name="Text 2"/>
          <p:cNvSpPr/>
          <p:nvPr/>
        </p:nvSpPr>
        <p:spPr>
          <a:xfrm>
            <a:off x="6507004" y="1998345"/>
            <a:ext cx="3211116" cy="7086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000000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🔥</a:t>
            </a:r>
            <a:r>
              <a:rPr lang="en-US" sz="2200" dirty="0">
                <a:solidFill>
                  <a:srgbClr val="C7CDD6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 Devastating Wildfire Impact</a:t>
            </a:r>
            <a:endParaRPr lang="en-US" sz="2200" dirty="0"/>
          </a:p>
        </p:txBody>
      </p:sp>
      <p:sp>
        <p:nvSpPr>
          <p:cNvPr id="6" name="Text 3"/>
          <p:cNvSpPr/>
          <p:nvPr/>
        </p:nvSpPr>
        <p:spPr>
          <a:xfrm>
            <a:off x="6507004" y="2843093"/>
            <a:ext cx="3211116" cy="181451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C7CDD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Wildfires burn 4 million km² annually, causing billions in damages and massive carbon emissions. Early detection is critical for effective response.</a:t>
            </a:r>
            <a:endParaRPr lang="en-US" sz="1750" dirty="0"/>
          </a:p>
        </p:txBody>
      </p:sp>
      <p:sp>
        <p:nvSpPr>
          <p:cNvPr id="7" name="Shape 4"/>
          <p:cNvSpPr/>
          <p:nvPr/>
        </p:nvSpPr>
        <p:spPr>
          <a:xfrm>
            <a:off x="10171748" y="1771531"/>
            <a:ext cx="3664863" cy="3475792"/>
          </a:xfrm>
          <a:prstGeom prst="roundRect">
            <a:avLst>
              <a:gd name="adj" fmla="val 979"/>
            </a:avLst>
          </a:prstGeom>
          <a:solidFill>
            <a:srgbClr val="434348"/>
          </a:solidFill>
          <a:ln/>
        </p:spPr>
      </p:sp>
      <p:sp>
        <p:nvSpPr>
          <p:cNvPr id="8" name="Text 5"/>
          <p:cNvSpPr/>
          <p:nvPr/>
        </p:nvSpPr>
        <p:spPr>
          <a:xfrm>
            <a:off x="10398562" y="1998345"/>
            <a:ext cx="3211235" cy="7086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000000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📡</a:t>
            </a:r>
            <a:r>
              <a:rPr lang="en-US" sz="2200" dirty="0">
                <a:solidFill>
                  <a:srgbClr val="C7CDD6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 Limited Detection Capabilities</a:t>
            </a:r>
            <a:endParaRPr lang="en-US" sz="2200" dirty="0"/>
          </a:p>
        </p:txBody>
      </p:sp>
      <p:sp>
        <p:nvSpPr>
          <p:cNvPr id="9" name="Text 6"/>
          <p:cNvSpPr/>
          <p:nvPr/>
        </p:nvSpPr>
        <p:spPr>
          <a:xfrm>
            <a:off x="10398562" y="2843093"/>
            <a:ext cx="3211235" cy="217741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C7CDD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Traditional systems rely on smoke detectors or manual surveillance — slow, localized, and unable to predict risk or spread patterns.</a:t>
            </a:r>
            <a:endParaRPr lang="en-US" sz="1750" dirty="0"/>
          </a:p>
        </p:txBody>
      </p:sp>
      <p:sp>
        <p:nvSpPr>
          <p:cNvPr id="10" name="Shape 7"/>
          <p:cNvSpPr/>
          <p:nvPr/>
        </p:nvSpPr>
        <p:spPr>
          <a:xfrm>
            <a:off x="6280190" y="5474137"/>
            <a:ext cx="7556421" cy="2032754"/>
          </a:xfrm>
          <a:prstGeom prst="roundRect">
            <a:avLst>
              <a:gd name="adj" fmla="val 1674"/>
            </a:avLst>
          </a:prstGeom>
          <a:solidFill>
            <a:srgbClr val="434348"/>
          </a:solidFill>
          <a:ln/>
        </p:spPr>
      </p:sp>
      <p:sp>
        <p:nvSpPr>
          <p:cNvPr id="11" name="Text 8"/>
          <p:cNvSpPr/>
          <p:nvPr/>
        </p:nvSpPr>
        <p:spPr>
          <a:xfrm>
            <a:off x="6507004" y="5700951"/>
            <a:ext cx="3847981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000000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🔀</a:t>
            </a:r>
            <a:r>
              <a:rPr lang="en-US" sz="2200" dirty="0">
                <a:solidFill>
                  <a:srgbClr val="C7CDD6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 Fragmented Data Sources</a:t>
            </a:r>
            <a:endParaRPr lang="en-US" sz="2200" dirty="0"/>
          </a:p>
        </p:txBody>
      </p:sp>
      <p:sp>
        <p:nvSpPr>
          <p:cNvPr id="12" name="Text 9"/>
          <p:cNvSpPr/>
          <p:nvPr/>
        </p:nvSpPr>
        <p:spPr>
          <a:xfrm>
            <a:off x="6507004" y="6191369"/>
            <a:ext cx="7102793" cy="10887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C7CDD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Satellite data, weather information, and image analysis exist in silos — no unified platform for comprehensive wildfire intelligence.</a:t>
            </a:r>
            <a:endParaRPr lang="en-US" sz="1750" dirty="0"/>
          </a:p>
        </p:txBody>
      </p:sp>
      <p:pic>
        <p:nvPicPr>
          <p:cNvPr id="14" name="Picture 13">
            <a:extLst>
              <a:ext uri="{FF2B5EF4-FFF2-40B4-BE49-F238E27FC236}">
                <a16:creationId xmlns:a16="http://schemas.microsoft.com/office/drawing/2014/main" id="{20B137A7-25E8-B655-324F-3DD0F77F060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801600" y="7611806"/>
            <a:ext cx="1727595" cy="57158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548640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280190" y="1064062"/>
            <a:ext cx="5103614" cy="63793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000"/>
              </a:lnSpc>
              <a:buNone/>
            </a:pPr>
            <a:r>
              <a:rPr lang="en-US" sz="4000" dirty="0">
                <a:solidFill>
                  <a:srgbClr val="EFD5FA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Objectives</a:t>
            </a:r>
            <a:endParaRPr lang="en-US" sz="4000" dirty="0"/>
          </a:p>
        </p:txBody>
      </p:sp>
      <p:sp>
        <p:nvSpPr>
          <p:cNvPr id="4" name="Shape 1"/>
          <p:cNvSpPr/>
          <p:nvPr/>
        </p:nvSpPr>
        <p:spPr>
          <a:xfrm>
            <a:off x="6280190" y="1977509"/>
            <a:ext cx="7556421" cy="1503402"/>
          </a:xfrm>
          <a:prstGeom prst="roundRect">
            <a:avLst>
              <a:gd name="adj" fmla="val 7299"/>
            </a:avLst>
          </a:prstGeom>
          <a:solidFill>
            <a:srgbClr val="242429"/>
          </a:solidFill>
          <a:ln w="22860">
            <a:solidFill>
              <a:srgbClr val="5C5C61"/>
            </a:solidFill>
            <a:prstDash val="solid"/>
          </a:ln>
        </p:spPr>
      </p:sp>
      <p:sp>
        <p:nvSpPr>
          <p:cNvPr id="5" name="Shape 2"/>
          <p:cNvSpPr/>
          <p:nvPr/>
        </p:nvSpPr>
        <p:spPr>
          <a:xfrm>
            <a:off x="6257330" y="1977509"/>
            <a:ext cx="91440" cy="1503402"/>
          </a:xfrm>
          <a:prstGeom prst="roundRect">
            <a:avLst>
              <a:gd name="adj" fmla="val 33488"/>
            </a:avLst>
          </a:prstGeom>
          <a:solidFill>
            <a:srgbClr val="FDC4C4"/>
          </a:solidFill>
          <a:ln/>
        </p:spPr>
      </p:sp>
      <p:sp>
        <p:nvSpPr>
          <p:cNvPr id="6" name="Text 3"/>
          <p:cNvSpPr/>
          <p:nvPr/>
        </p:nvSpPr>
        <p:spPr>
          <a:xfrm>
            <a:off x="6575703" y="2204442"/>
            <a:ext cx="3333036" cy="3188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2000" dirty="0">
                <a:solidFill>
                  <a:srgbClr val="C7CDD6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Detect Fire with AI Precision</a:t>
            </a:r>
            <a:endParaRPr lang="en-US" sz="2000" dirty="0"/>
          </a:p>
        </p:txBody>
      </p:sp>
      <p:sp>
        <p:nvSpPr>
          <p:cNvPr id="7" name="Text 4"/>
          <p:cNvSpPr/>
          <p:nvPr/>
        </p:nvSpPr>
        <p:spPr>
          <a:xfrm>
            <a:off x="6575703" y="2633424"/>
            <a:ext cx="7033974" cy="62055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1600" dirty="0">
                <a:solidFill>
                  <a:srgbClr val="C7CDD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Use state-of-the-art Vision Transformer (ViT) deep learning to classify fire vs no-fire from satellite and aerial imagery with 96.3% accuracy.</a:t>
            </a:r>
            <a:endParaRPr lang="en-US" sz="1600" dirty="0"/>
          </a:p>
        </p:txBody>
      </p:sp>
      <p:sp>
        <p:nvSpPr>
          <p:cNvPr id="8" name="Shape 5"/>
          <p:cNvSpPr/>
          <p:nvPr/>
        </p:nvSpPr>
        <p:spPr>
          <a:xfrm>
            <a:off x="6280190" y="3664625"/>
            <a:ext cx="7556421" cy="1813679"/>
          </a:xfrm>
          <a:prstGeom prst="roundRect">
            <a:avLst>
              <a:gd name="adj" fmla="val 6050"/>
            </a:avLst>
          </a:prstGeom>
          <a:solidFill>
            <a:srgbClr val="242429"/>
          </a:solidFill>
          <a:ln w="22860">
            <a:solidFill>
              <a:srgbClr val="5C5C61"/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6257330" y="3664625"/>
            <a:ext cx="91440" cy="1813679"/>
          </a:xfrm>
          <a:prstGeom prst="roundRect">
            <a:avLst>
              <a:gd name="adj" fmla="val 33488"/>
            </a:avLst>
          </a:prstGeom>
          <a:solidFill>
            <a:srgbClr val="FDC4C4"/>
          </a:solidFill>
          <a:ln/>
        </p:spPr>
      </p:sp>
      <p:sp>
        <p:nvSpPr>
          <p:cNvPr id="10" name="Text 7"/>
          <p:cNvSpPr/>
          <p:nvPr/>
        </p:nvSpPr>
        <p:spPr>
          <a:xfrm>
            <a:off x="6575703" y="3891558"/>
            <a:ext cx="3849767" cy="3188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2000" dirty="0">
                <a:solidFill>
                  <a:srgbClr val="C7CDD6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Assess Ignition Risk in Real-Time</a:t>
            </a:r>
            <a:endParaRPr lang="en-US" sz="2000" dirty="0"/>
          </a:p>
        </p:txBody>
      </p:sp>
      <p:sp>
        <p:nvSpPr>
          <p:cNvPr id="11" name="Text 8"/>
          <p:cNvSpPr/>
          <p:nvPr/>
        </p:nvSpPr>
        <p:spPr>
          <a:xfrm>
            <a:off x="6575703" y="4320540"/>
            <a:ext cx="7033974" cy="93083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1600" dirty="0">
                <a:solidFill>
                  <a:srgbClr val="C7CDD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Predict fire ignition probability using weather conditions (temperature, humidity, wind) and geospatial data with Random Forest machine learning.</a:t>
            </a:r>
            <a:endParaRPr lang="en-US" sz="1600" dirty="0"/>
          </a:p>
        </p:txBody>
      </p:sp>
      <p:sp>
        <p:nvSpPr>
          <p:cNvPr id="12" name="Shape 9"/>
          <p:cNvSpPr/>
          <p:nvPr/>
        </p:nvSpPr>
        <p:spPr>
          <a:xfrm>
            <a:off x="6280190" y="5662017"/>
            <a:ext cx="7556421" cy="1503402"/>
          </a:xfrm>
          <a:prstGeom prst="roundRect">
            <a:avLst>
              <a:gd name="adj" fmla="val 7299"/>
            </a:avLst>
          </a:prstGeom>
          <a:solidFill>
            <a:srgbClr val="242429"/>
          </a:solidFill>
          <a:ln w="22860">
            <a:solidFill>
              <a:srgbClr val="5C5C61"/>
            </a:solidFill>
            <a:prstDash val="solid"/>
          </a:ln>
        </p:spPr>
      </p:sp>
      <p:sp>
        <p:nvSpPr>
          <p:cNvPr id="13" name="Shape 10"/>
          <p:cNvSpPr/>
          <p:nvPr/>
        </p:nvSpPr>
        <p:spPr>
          <a:xfrm>
            <a:off x="6257330" y="5662017"/>
            <a:ext cx="91440" cy="1503402"/>
          </a:xfrm>
          <a:prstGeom prst="roundRect">
            <a:avLst>
              <a:gd name="adj" fmla="val 33488"/>
            </a:avLst>
          </a:prstGeom>
          <a:solidFill>
            <a:srgbClr val="FDC4C4"/>
          </a:solidFill>
          <a:ln/>
        </p:spPr>
      </p:sp>
      <p:sp>
        <p:nvSpPr>
          <p:cNvPr id="14" name="Text 11"/>
          <p:cNvSpPr/>
          <p:nvPr/>
        </p:nvSpPr>
        <p:spPr>
          <a:xfrm>
            <a:off x="6575703" y="5888950"/>
            <a:ext cx="3829883" cy="3188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2000" dirty="0">
                <a:solidFill>
                  <a:srgbClr val="C7CDD6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Visualize Fire Spread &amp; Hotspots</a:t>
            </a:r>
            <a:endParaRPr lang="en-US" sz="2000" dirty="0"/>
          </a:p>
        </p:txBody>
      </p:sp>
      <p:sp>
        <p:nvSpPr>
          <p:cNvPr id="15" name="Text 12"/>
          <p:cNvSpPr/>
          <p:nvPr/>
        </p:nvSpPr>
        <p:spPr>
          <a:xfrm>
            <a:off x="6575703" y="6317933"/>
            <a:ext cx="7033974" cy="62055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1600" dirty="0">
                <a:solidFill>
                  <a:srgbClr val="C7CDD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Integrate NASA FIRMS satellite hotspot data and physics-based spread modeling to show where fires are active and where they'll spread.</a:t>
            </a:r>
            <a:endParaRPr lang="en-US" sz="1600" dirty="0"/>
          </a:p>
        </p:txBody>
      </p:sp>
      <p:pic>
        <p:nvPicPr>
          <p:cNvPr id="18" name="Picture 17">
            <a:extLst>
              <a:ext uri="{FF2B5EF4-FFF2-40B4-BE49-F238E27FC236}">
                <a16:creationId xmlns:a16="http://schemas.microsoft.com/office/drawing/2014/main" id="{DDC89AB5-C30F-8CCE-FFFA-621EFF1F1DC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801600" y="7611806"/>
            <a:ext cx="1727595" cy="57158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786051"/>
            <a:ext cx="3685937" cy="46077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600"/>
              </a:lnSpc>
              <a:buNone/>
            </a:pPr>
            <a:r>
              <a:rPr lang="en-US" sz="2900" dirty="0">
                <a:solidFill>
                  <a:srgbClr val="EFD5FA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System Overview</a:t>
            </a:r>
            <a:endParaRPr lang="en-US" sz="2900" dirty="0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93790" y="1498283"/>
            <a:ext cx="5428655" cy="3076218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9512856" y="2647236"/>
            <a:ext cx="4331256" cy="77819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500"/>
              </a:lnSpc>
              <a:buNone/>
            </a:pPr>
            <a:r>
              <a:rPr lang="en-US" sz="1150" dirty="0">
                <a:solidFill>
                  <a:srgbClr val="C7CDD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PyroWatch is a multimodal system that fuses image classification, satellite monitoring, weather-based risk prediction, and fire spread visualization into a unified dashboard.</a:t>
            </a:r>
            <a:endParaRPr lang="en-US" sz="1150" dirty="0"/>
          </a:p>
        </p:txBody>
      </p:sp>
      <p:pic>
        <p:nvPicPr>
          <p:cNvPr id="5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93790" y="4790003"/>
            <a:ext cx="737116" cy="884515"/>
          </a:xfrm>
          <a:prstGeom prst="rect">
            <a:avLst/>
          </a:prstGeom>
        </p:spPr>
      </p:pic>
      <p:sp>
        <p:nvSpPr>
          <p:cNvPr id="6" name="Text 2"/>
          <p:cNvSpPr/>
          <p:nvPr/>
        </p:nvSpPr>
        <p:spPr>
          <a:xfrm>
            <a:off x="1626632" y="4937403"/>
            <a:ext cx="1842968" cy="23038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450" dirty="0">
                <a:solidFill>
                  <a:srgbClr val="C7CDD6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Input</a:t>
            </a:r>
            <a:endParaRPr lang="en-US" sz="1450" dirty="0"/>
          </a:p>
        </p:txBody>
      </p:sp>
      <p:sp>
        <p:nvSpPr>
          <p:cNvPr id="7" name="Text 3"/>
          <p:cNvSpPr/>
          <p:nvPr/>
        </p:nvSpPr>
        <p:spPr>
          <a:xfrm>
            <a:off x="1626632" y="5225177"/>
            <a:ext cx="12209978" cy="19454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500"/>
              </a:lnSpc>
              <a:buNone/>
            </a:pPr>
            <a:r>
              <a:rPr lang="en-US" sz="1150" dirty="0">
                <a:solidFill>
                  <a:srgbClr val="C7CDD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Images, Satellite Hotspots, Weather Data, Location</a:t>
            </a:r>
            <a:endParaRPr lang="en-US" sz="1150" dirty="0"/>
          </a:p>
        </p:txBody>
      </p:sp>
      <p:pic>
        <p:nvPicPr>
          <p:cNvPr id="8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93790" y="5674519"/>
            <a:ext cx="737116" cy="884515"/>
          </a:xfrm>
          <a:prstGeom prst="rect">
            <a:avLst/>
          </a:prstGeom>
        </p:spPr>
      </p:pic>
      <p:sp>
        <p:nvSpPr>
          <p:cNvPr id="9" name="Text 4"/>
          <p:cNvSpPr/>
          <p:nvPr/>
        </p:nvSpPr>
        <p:spPr>
          <a:xfrm>
            <a:off x="1626632" y="5821918"/>
            <a:ext cx="1842968" cy="23038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450" dirty="0">
                <a:solidFill>
                  <a:srgbClr val="C7CDD6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Processing</a:t>
            </a:r>
            <a:endParaRPr lang="en-US" sz="1450" dirty="0"/>
          </a:p>
        </p:txBody>
      </p:sp>
      <p:sp>
        <p:nvSpPr>
          <p:cNvPr id="10" name="Text 5"/>
          <p:cNvSpPr/>
          <p:nvPr/>
        </p:nvSpPr>
        <p:spPr>
          <a:xfrm>
            <a:off x="1626632" y="6109692"/>
            <a:ext cx="12209978" cy="19454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500"/>
              </a:lnSpc>
              <a:buNone/>
            </a:pPr>
            <a:r>
              <a:rPr lang="en-US" sz="1150" dirty="0">
                <a:solidFill>
                  <a:srgbClr val="C7CDD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ViT Model, Random Forest, Spread Model, Fusion Engine</a:t>
            </a:r>
            <a:endParaRPr lang="en-US" sz="1150" dirty="0"/>
          </a:p>
        </p:txBody>
      </p:sp>
      <p:pic>
        <p:nvPicPr>
          <p:cNvPr id="11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93790" y="6559034"/>
            <a:ext cx="737116" cy="884515"/>
          </a:xfrm>
          <a:prstGeom prst="rect">
            <a:avLst/>
          </a:prstGeom>
        </p:spPr>
      </p:pic>
      <p:sp>
        <p:nvSpPr>
          <p:cNvPr id="12" name="Text 6"/>
          <p:cNvSpPr/>
          <p:nvPr/>
        </p:nvSpPr>
        <p:spPr>
          <a:xfrm>
            <a:off x="1626632" y="6706433"/>
            <a:ext cx="1842968" cy="23038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450" dirty="0">
                <a:solidFill>
                  <a:srgbClr val="C7CDD6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Output</a:t>
            </a:r>
            <a:endParaRPr lang="en-US" sz="1450" dirty="0"/>
          </a:p>
        </p:txBody>
      </p:sp>
      <p:sp>
        <p:nvSpPr>
          <p:cNvPr id="13" name="Text 7"/>
          <p:cNvSpPr/>
          <p:nvPr/>
        </p:nvSpPr>
        <p:spPr>
          <a:xfrm>
            <a:off x="1626632" y="6994208"/>
            <a:ext cx="12209978" cy="19454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500"/>
              </a:lnSpc>
              <a:buNone/>
            </a:pPr>
            <a:r>
              <a:rPr lang="en-US" sz="1150" dirty="0">
                <a:solidFill>
                  <a:srgbClr val="C7CDD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Fire/No Fire Classification, Risk Level, Heatmaps, Interactive Maps</a:t>
            </a:r>
            <a:endParaRPr lang="en-US" sz="1150" dirty="0"/>
          </a:p>
        </p:txBody>
      </p:sp>
      <p:pic>
        <p:nvPicPr>
          <p:cNvPr id="14" name="Picture 13">
            <a:extLst>
              <a:ext uri="{FF2B5EF4-FFF2-40B4-BE49-F238E27FC236}">
                <a16:creationId xmlns:a16="http://schemas.microsoft.com/office/drawing/2014/main" id="{6E41FEDA-81DB-CD7A-2E09-BC530DEC3652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2801600" y="7611806"/>
            <a:ext cx="1727595" cy="57158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1831062"/>
            <a:ext cx="5670590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550"/>
              </a:lnSpc>
              <a:buNone/>
            </a:pPr>
            <a:r>
              <a:rPr lang="en-US" sz="4450" dirty="0">
                <a:solidFill>
                  <a:srgbClr val="EFD5FA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Technology Stack</a:t>
            </a:r>
            <a:endParaRPr lang="en-US" sz="4450" dirty="0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793790" y="2993469"/>
            <a:ext cx="453628" cy="453628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793790" y="3730585"/>
            <a:ext cx="34829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C7CDD6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Deep Learning Framework</a:t>
            </a:r>
            <a:endParaRPr lang="en-US" sz="2200" dirty="0"/>
          </a:p>
        </p:txBody>
      </p:sp>
      <p:sp>
        <p:nvSpPr>
          <p:cNvPr id="5" name="Text 2"/>
          <p:cNvSpPr/>
          <p:nvPr/>
        </p:nvSpPr>
        <p:spPr>
          <a:xfrm>
            <a:off x="793790" y="4221004"/>
            <a:ext cx="4158615" cy="217741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C7CDD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PyTorch 2.0 + Transformers 4.35 - Vision Transformer (ViT) for image classification. 96.3% accuracy on Wildfire Dataset (1,887 images). Attention heatmap generation in 0.12 seconds.</a:t>
            </a:r>
            <a:endParaRPr lang="en-US" sz="1750" dirty="0"/>
          </a:p>
        </p:txBody>
      </p:sp>
      <p:pic>
        <p:nvPicPr>
          <p:cNvPr id="6" name="Image 1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5235893" y="2993469"/>
            <a:ext cx="453628" cy="453628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5235893" y="3730585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C7CDD6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Machine Learning</a:t>
            </a:r>
            <a:endParaRPr lang="en-US" sz="2200" dirty="0"/>
          </a:p>
        </p:txBody>
      </p:sp>
      <p:sp>
        <p:nvSpPr>
          <p:cNvPr id="8" name="Text 4"/>
          <p:cNvSpPr/>
          <p:nvPr/>
        </p:nvSpPr>
        <p:spPr>
          <a:xfrm>
            <a:off x="5235893" y="4221004"/>
            <a:ext cx="4158615" cy="217741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C7CDD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Scikit-learn - Random Forest (100 trees) for risk prediction. ~95% accuracy on weather-based fire risk assessment. 6 features: latitude, longitude, temperature, humidity, wind speed, wind direction.</a:t>
            </a:r>
            <a:endParaRPr lang="en-US" sz="1750" dirty="0"/>
          </a:p>
        </p:txBody>
      </p:sp>
      <p:pic>
        <p:nvPicPr>
          <p:cNvPr id="9" name="Image 2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9677995" y="2993469"/>
            <a:ext cx="453628" cy="453628"/>
          </a:xfrm>
          <a:prstGeom prst="rect">
            <a:avLst/>
          </a:prstGeom>
        </p:spPr>
      </p:pic>
      <p:sp>
        <p:nvSpPr>
          <p:cNvPr id="10" name="Text 5"/>
          <p:cNvSpPr/>
          <p:nvPr/>
        </p:nvSpPr>
        <p:spPr>
          <a:xfrm>
            <a:off x="9677995" y="3730585"/>
            <a:ext cx="4140398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C7CDD6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Data Integration &amp; Visualization</a:t>
            </a:r>
            <a:endParaRPr lang="en-US" sz="2200" dirty="0"/>
          </a:p>
        </p:txBody>
      </p:sp>
      <p:sp>
        <p:nvSpPr>
          <p:cNvPr id="11" name="Text 6"/>
          <p:cNvSpPr/>
          <p:nvPr/>
        </p:nvSpPr>
        <p:spPr>
          <a:xfrm>
            <a:off x="9677995" y="4221004"/>
            <a:ext cx="4158615" cy="217741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C7CDD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NASA FIRMS API - Real-time MODIS/VIIRS satellite hotspot data. OpenWeatherMap API - Live weather data. Streamlit - Interactive web dashboard. Folium - Interactive maps | Plotly - Analytics charts.</a:t>
            </a:r>
            <a:endParaRPr lang="en-US" sz="1750" dirty="0"/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99B6F913-FD01-BD76-0ABD-A1423D57BF18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2801600" y="7611806"/>
            <a:ext cx="1727595" cy="57158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799981"/>
            <a:ext cx="4536519" cy="56697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4450"/>
              </a:lnSpc>
              <a:buNone/>
            </a:pPr>
            <a:r>
              <a:rPr lang="en-US" sz="3550" dirty="0">
                <a:solidFill>
                  <a:srgbClr val="EFD5FA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Working Flow</a:t>
            </a:r>
            <a:endParaRPr lang="en-US" sz="3550" dirty="0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660809" y="1657231"/>
            <a:ext cx="9308783" cy="5086707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3888312" y="4040656"/>
            <a:ext cx="2156926" cy="29345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300"/>
              </a:lnSpc>
              <a:buNone/>
            </a:pPr>
            <a:r>
              <a:rPr lang="en-US" sz="1800" dirty="0">
                <a:solidFill>
                  <a:srgbClr val="EFD5FA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Capture</a:t>
            </a:r>
            <a:endParaRPr lang="en-US" sz="1800" dirty="0"/>
          </a:p>
        </p:txBody>
      </p:sp>
      <p:sp>
        <p:nvSpPr>
          <p:cNvPr id="5" name="Text 2"/>
          <p:cNvSpPr/>
          <p:nvPr/>
        </p:nvSpPr>
        <p:spPr>
          <a:xfrm>
            <a:off x="9334919" y="4007560"/>
            <a:ext cx="2156926" cy="29345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300"/>
              </a:lnSpc>
              <a:buNone/>
            </a:pPr>
            <a:r>
              <a:rPr lang="en-US" sz="1800" dirty="0">
                <a:solidFill>
                  <a:srgbClr val="EFD5FA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Process</a:t>
            </a:r>
            <a:endParaRPr lang="en-US" sz="1800" dirty="0"/>
          </a:p>
        </p:txBody>
      </p:sp>
      <p:sp>
        <p:nvSpPr>
          <p:cNvPr id="6" name="Text 3"/>
          <p:cNvSpPr/>
          <p:nvPr/>
        </p:nvSpPr>
        <p:spPr>
          <a:xfrm>
            <a:off x="6674220" y="4018157"/>
            <a:ext cx="2156926" cy="2934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300"/>
              </a:lnSpc>
              <a:buNone/>
            </a:pPr>
            <a:r>
              <a:rPr lang="en-US" sz="1800" dirty="0">
                <a:solidFill>
                  <a:srgbClr val="EFD5FA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Detect</a:t>
            </a:r>
            <a:endParaRPr lang="en-US" sz="1800" dirty="0"/>
          </a:p>
        </p:txBody>
      </p:sp>
      <p:sp>
        <p:nvSpPr>
          <p:cNvPr id="7" name="Text 4"/>
          <p:cNvSpPr/>
          <p:nvPr/>
        </p:nvSpPr>
        <p:spPr>
          <a:xfrm>
            <a:off x="793790" y="6907173"/>
            <a:ext cx="13042821" cy="52244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050"/>
              </a:lnSpc>
              <a:buNone/>
            </a:pPr>
            <a:r>
              <a:rPr lang="en-US" sz="1400" dirty="0">
                <a:solidFill>
                  <a:srgbClr val="C7CDD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PyroWatch processes data through four stages — capturing images and satellite data, running multi-model analysis, detecting fires with 96.3% accuracy, and displaying results on an interactive dashboard with alerts and visualizations.</a:t>
            </a:r>
            <a:endParaRPr lang="en-US" sz="1400" dirty="0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7A005E01-66BC-71DF-36C0-D681B73B54D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801600" y="7611806"/>
            <a:ext cx="1727595" cy="57158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765929"/>
            <a:ext cx="7269599" cy="5316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4150"/>
              </a:lnSpc>
              <a:buNone/>
            </a:pPr>
            <a:r>
              <a:rPr lang="en-US" sz="3300" dirty="0">
                <a:solidFill>
                  <a:srgbClr val="EFD5FA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Detection Logic - Vision Transformer</a:t>
            </a:r>
            <a:endParaRPr lang="en-US" sz="3300" dirty="0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93790" y="2705576"/>
            <a:ext cx="6249353" cy="3541276"/>
          </a:xfrm>
          <a:prstGeom prst="rect">
            <a:avLst/>
          </a:prstGeom>
        </p:spPr>
      </p:pic>
      <p:sp>
        <p:nvSpPr>
          <p:cNvPr id="4" name="Shape 1"/>
          <p:cNvSpPr/>
          <p:nvPr/>
        </p:nvSpPr>
        <p:spPr>
          <a:xfrm>
            <a:off x="9548932" y="1632347"/>
            <a:ext cx="4295180" cy="1731526"/>
          </a:xfrm>
          <a:prstGeom prst="roundRect">
            <a:avLst>
              <a:gd name="adj" fmla="val 6337"/>
            </a:avLst>
          </a:prstGeom>
          <a:solidFill>
            <a:srgbClr val="242429"/>
          </a:solidFill>
          <a:ln w="22860">
            <a:solidFill>
              <a:srgbClr val="5C5C61"/>
            </a:solidFill>
            <a:prstDash val="solid"/>
          </a:ln>
        </p:spPr>
      </p:sp>
      <p:sp>
        <p:nvSpPr>
          <p:cNvPr id="5" name="Shape 2"/>
          <p:cNvSpPr/>
          <p:nvPr/>
        </p:nvSpPr>
        <p:spPr>
          <a:xfrm>
            <a:off x="9526072" y="1632347"/>
            <a:ext cx="91440" cy="1731526"/>
          </a:xfrm>
          <a:prstGeom prst="roundRect">
            <a:avLst>
              <a:gd name="adj" fmla="val 27907"/>
            </a:avLst>
          </a:prstGeom>
          <a:solidFill>
            <a:srgbClr val="FDC4C4"/>
          </a:solidFill>
          <a:ln/>
        </p:spPr>
      </p:sp>
      <p:sp>
        <p:nvSpPr>
          <p:cNvPr id="6" name="Text 3"/>
          <p:cNvSpPr/>
          <p:nvPr/>
        </p:nvSpPr>
        <p:spPr>
          <a:xfrm>
            <a:off x="9810393" y="1825228"/>
            <a:ext cx="3546038" cy="26574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050"/>
              </a:lnSpc>
              <a:buNone/>
            </a:pPr>
            <a:r>
              <a:rPr lang="en-US" sz="1650" dirty="0">
                <a:solidFill>
                  <a:srgbClr val="C7CDD6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Architecture: ViT-Base-Patch16-224</a:t>
            </a:r>
            <a:endParaRPr lang="en-US" sz="1650" dirty="0"/>
          </a:p>
        </p:txBody>
      </p:sp>
      <p:sp>
        <p:nvSpPr>
          <p:cNvPr id="7" name="Text 4"/>
          <p:cNvSpPr/>
          <p:nvPr/>
        </p:nvSpPr>
        <p:spPr>
          <a:xfrm>
            <a:off x="9810393" y="2218492"/>
            <a:ext cx="3840837" cy="952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850"/>
              </a:lnSpc>
              <a:buNone/>
            </a:pPr>
            <a:r>
              <a:rPr lang="en-US" sz="1300" dirty="0">
                <a:solidFill>
                  <a:srgbClr val="C7CDD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Image divided into 16×16 patches (196 patches total). 12 transformer encoder layers with multi-head self-attention. Fine-tuned on Wildfire Dataset from Kaggle (1,887 images).</a:t>
            </a:r>
            <a:endParaRPr lang="en-US" sz="1300" dirty="0"/>
          </a:p>
        </p:txBody>
      </p:sp>
      <p:sp>
        <p:nvSpPr>
          <p:cNvPr id="8" name="Shape 5"/>
          <p:cNvSpPr/>
          <p:nvPr/>
        </p:nvSpPr>
        <p:spPr>
          <a:xfrm>
            <a:off x="9548932" y="3491389"/>
            <a:ext cx="4295180" cy="1493401"/>
          </a:xfrm>
          <a:prstGeom prst="roundRect">
            <a:avLst>
              <a:gd name="adj" fmla="val 7348"/>
            </a:avLst>
          </a:prstGeom>
          <a:solidFill>
            <a:srgbClr val="242429"/>
          </a:solidFill>
          <a:ln w="22860">
            <a:solidFill>
              <a:srgbClr val="5C5C61"/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9526072" y="3491389"/>
            <a:ext cx="91440" cy="1493401"/>
          </a:xfrm>
          <a:prstGeom prst="roundRect">
            <a:avLst>
              <a:gd name="adj" fmla="val 27907"/>
            </a:avLst>
          </a:prstGeom>
          <a:solidFill>
            <a:srgbClr val="FDC4C4"/>
          </a:solidFill>
          <a:ln/>
        </p:spPr>
      </p:sp>
      <p:sp>
        <p:nvSpPr>
          <p:cNvPr id="10" name="Text 7"/>
          <p:cNvSpPr/>
          <p:nvPr/>
        </p:nvSpPr>
        <p:spPr>
          <a:xfrm>
            <a:off x="9810393" y="3684270"/>
            <a:ext cx="2126456" cy="26574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050"/>
              </a:lnSpc>
              <a:buNone/>
            </a:pPr>
            <a:r>
              <a:rPr lang="en-US" sz="1650" dirty="0">
                <a:solidFill>
                  <a:srgbClr val="C7CDD6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Training Results</a:t>
            </a:r>
            <a:endParaRPr lang="en-US" sz="1650" dirty="0"/>
          </a:p>
        </p:txBody>
      </p:sp>
      <p:sp>
        <p:nvSpPr>
          <p:cNvPr id="11" name="Text 8"/>
          <p:cNvSpPr/>
          <p:nvPr/>
        </p:nvSpPr>
        <p:spPr>
          <a:xfrm>
            <a:off x="9810393" y="4077533"/>
            <a:ext cx="3840837" cy="7143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850"/>
              </a:lnSpc>
              <a:buNone/>
            </a:pPr>
            <a:r>
              <a:rPr lang="en-US" sz="1300" dirty="0">
                <a:solidFill>
                  <a:srgbClr val="C7CDD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96.3% test accuracy after 2 epochs. Training loss decreased from 0.76 to 0.03. Dataset split: 1,509 training images, 378 test images.</a:t>
            </a:r>
            <a:endParaRPr lang="en-US" sz="1300" dirty="0"/>
          </a:p>
        </p:txBody>
      </p:sp>
      <p:sp>
        <p:nvSpPr>
          <p:cNvPr id="12" name="Shape 9"/>
          <p:cNvSpPr/>
          <p:nvPr/>
        </p:nvSpPr>
        <p:spPr>
          <a:xfrm>
            <a:off x="9548932" y="5112306"/>
            <a:ext cx="4295180" cy="2207776"/>
          </a:xfrm>
          <a:prstGeom prst="roundRect">
            <a:avLst>
              <a:gd name="adj" fmla="val 4970"/>
            </a:avLst>
          </a:prstGeom>
          <a:solidFill>
            <a:srgbClr val="242429"/>
          </a:solidFill>
          <a:ln w="22860">
            <a:solidFill>
              <a:srgbClr val="5C5C61"/>
            </a:solidFill>
            <a:prstDash val="solid"/>
          </a:ln>
        </p:spPr>
      </p:sp>
      <p:sp>
        <p:nvSpPr>
          <p:cNvPr id="13" name="Shape 10"/>
          <p:cNvSpPr/>
          <p:nvPr/>
        </p:nvSpPr>
        <p:spPr>
          <a:xfrm>
            <a:off x="9526072" y="5112306"/>
            <a:ext cx="91440" cy="2207776"/>
          </a:xfrm>
          <a:prstGeom prst="roundRect">
            <a:avLst>
              <a:gd name="adj" fmla="val 27907"/>
            </a:avLst>
          </a:prstGeom>
          <a:solidFill>
            <a:srgbClr val="FDC4C4"/>
          </a:solidFill>
          <a:ln/>
        </p:spPr>
      </p:sp>
      <p:sp>
        <p:nvSpPr>
          <p:cNvPr id="14" name="Text 11"/>
          <p:cNvSpPr/>
          <p:nvPr/>
        </p:nvSpPr>
        <p:spPr>
          <a:xfrm>
            <a:off x="9810393" y="5305187"/>
            <a:ext cx="3273385" cy="26574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050"/>
              </a:lnSpc>
              <a:buNone/>
            </a:pPr>
            <a:r>
              <a:rPr lang="en-US" sz="1650" dirty="0">
                <a:solidFill>
                  <a:srgbClr val="C7CDD6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Attention Heatmap Explainability</a:t>
            </a:r>
            <a:endParaRPr lang="en-US" sz="1650" dirty="0"/>
          </a:p>
        </p:txBody>
      </p:sp>
      <p:sp>
        <p:nvSpPr>
          <p:cNvPr id="15" name="Text 12"/>
          <p:cNvSpPr/>
          <p:nvPr/>
        </p:nvSpPr>
        <p:spPr>
          <a:xfrm>
            <a:off x="9810393" y="5698450"/>
            <a:ext cx="3840837" cy="1428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850"/>
              </a:lnSpc>
              <a:buNone/>
            </a:pPr>
            <a:r>
              <a:rPr lang="en-US" sz="1300" dirty="0">
                <a:solidFill>
                  <a:srgbClr val="C7CDD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Extracts attention weights from final transformer layer. Visualizes which image regions the model focuses on (flames, smoke, orange/red areas). Generates heatmap overlay in 0.12 seconds. Provides transparency and builds user trust in AI decisions.</a:t>
            </a:r>
            <a:endParaRPr lang="en-US" sz="1300" dirty="0"/>
          </a:p>
        </p:txBody>
      </p:sp>
      <p:pic>
        <p:nvPicPr>
          <p:cNvPr id="16" name="Picture 15">
            <a:extLst>
              <a:ext uri="{FF2B5EF4-FFF2-40B4-BE49-F238E27FC236}">
                <a16:creationId xmlns:a16="http://schemas.microsoft.com/office/drawing/2014/main" id="{B6E999C5-B27A-D5C2-7B7F-3D6FC90A18E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801600" y="7611806"/>
            <a:ext cx="1727595" cy="57158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865227"/>
            <a:ext cx="4252913" cy="5316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4150"/>
              </a:lnSpc>
              <a:buNone/>
            </a:pPr>
            <a:r>
              <a:rPr lang="en-US" sz="3300" dirty="0">
                <a:solidFill>
                  <a:srgbClr val="EFD5FA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Integration Pipeline</a:t>
            </a:r>
            <a:endParaRPr lang="en-US" sz="3300" dirty="0"/>
          </a:p>
        </p:txBody>
      </p:sp>
      <p:sp>
        <p:nvSpPr>
          <p:cNvPr id="3" name="Text 1"/>
          <p:cNvSpPr/>
          <p:nvPr/>
        </p:nvSpPr>
        <p:spPr>
          <a:xfrm>
            <a:off x="793790" y="1702951"/>
            <a:ext cx="6313884" cy="7143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850"/>
              </a:lnSpc>
              <a:buNone/>
            </a:pPr>
            <a:r>
              <a:rPr lang="en-US" sz="1300" dirty="0">
                <a:solidFill>
                  <a:srgbClr val="C7CDD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PyroWatch uses a </a:t>
            </a:r>
            <a:r>
              <a:rPr lang="en-US" sz="1300" b="1" dirty="0">
                <a:solidFill>
                  <a:srgbClr val="C7CDD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late fusion architecture</a:t>
            </a:r>
            <a:r>
              <a:rPr lang="en-US" sz="1300" dirty="0">
                <a:solidFill>
                  <a:srgbClr val="C7CDD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where each modality operates independently. Data sources feed into specialized processing models, with results combined at the decision level for comprehensive wildfire intelligence.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793790" y="2532102"/>
            <a:ext cx="6313884" cy="2381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850"/>
              </a:lnSpc>
              <a:buNone/>
            </a:pPr>
            <a:r>
              <a:rPr lang="en-US" sz="1300" b="1" dirty="0">
                <a:solidFill>
                  <a:srgbClr val="C7CDD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Layer 1 - Data Sources: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793790" y="2885003"/>
            <a:ext cx="6313884" cy="8036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1850"/>
              </a:lnSpc>
              <a:buSzPct val="100000"/>
              <a:buChar char="•"/>
            </a:pPr>
            <a:r>
              <a:rPr lang="en-US" sz="1300" dirty="0">
                <a:solidFill>
                  <a:srgbClr val="C7CDD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NASA FIRMS (MODIS satellite data)</a:t>
            </a:r>
            <a:endParaRPr lang="en-US" sz="1300" dirty="0"/>
          </a:p>
          <a:p>
            <a:pPr marL="342900" indent="-342900" algn="l">
              <a:lnSpc>
                <a:spcPts val="1850"/>
              </a:lnSpc>
              <a:buSzPct val="100000"/>
              <a:buChar char="•"/>
            </a:pPr>
            <a:r>
              <a:rPr lang="en-US" sz="1300" dirty="0">
                <a:solidFill>
                  <a:srgbClr val="C7CDD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OpenWeatherMap API (live weather)</a:t>
            </a:r>
            <a:endParaRPr lang="en-US" sz="1300" dirty="0"/>
          </a:p>
          <a:p>
            <a:pPr marL="342900" indent="-342900" algn="l">
              <a:lnSpc>
                <a:spcPts val="1850"/>
              </a:lnSpc>
              <a:buSzPct val="100000"/>
              <a:buChar char="•"/>
            </a:pPr>
            <a:r>
              <a:rPr lang="en-US" sz="1300" dirty="0">
                <a:solidFill>
                  <a:srgbClr val="C7CDD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User Uploads (images)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793790" y="3803452"/>
            <a:ext cx="6313884" cy="2381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850"/>
              </a:lnSpc>
              <a:buNone/>
            </a:pPr>
            <a:r>
              <a:rPr lang="en-US" sz="1300" b="1" dirty="0">
                <a:solidFill>
                  <a:srgbClr val="C7CDD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Layer 2 - Backend Processing: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793790" y="4156353"/>
            <a:ext cx="6313884" cy="8036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1850"/>
              </a:lnSpc>
              <a:buSzPct val="100000"/>
              <a:buChar char="•"/>
            </a:pPr>
            <a:r>
              <a:rPr lang="en-US" sz="1300" dirty="0">
                <a:solidFill>
                  <a:srgbClr val="C7CDD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ViT Image Classifier (PyTorch) - 96.3% accuracy</a:t>
            </a:r>
            <a:endParaRPr lang="en-US" sz="1300" dirty="0"/>
          </a:p>
          <a:p>
            <a:pPr marL="342900" indent="-342900" algn="l">
              <a:lnSpc>
                <a:spcPts val="1850"/>
              </a:lnSpc>
              <a:buSzPct val="100000"/>
              <a:buChar char="•"/>
            </a:pPr>
            <a:r>
              <a:rPr lang="en-US" sz="1300" dirty="0">
                <a:solidFill>
                  <a:srgbClr val="C7CDD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Random Forest Risk Model (Scikit-learn) - ~95% accuracy</a:t>
            </a:r>
            <a:endParaRPr lang="en-US" sz="1300" dirty="0"/>
          </a:p>
          <a:p>
            <a:pPr marL="342900" indent="-342900" algn="l">
              <a:lnSpc>
                <a:spcPts val="1850"/>
              </a:lnSpc>
              <a:buSzPct val="100000"/>
              <a:buChar char="•"/>
            </a:pPr>
            <a:r>
              <a:rPr lang="en-US" sz="1300" dirty="0">
                <a:solidFill>
                  <a:srgbClr val="C7CDD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Geometric Spread Model (physics-based)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793790" y="5074801"/>
            <a:ext cx="6313884" cy="2381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850"/>
              </a:lnSpc>
              <a:buNone/>
            </a:pPr>
            <a:r>
              <a:rPr lang="en-US" sz="1300" b="1" dirty="0">
                <a:solidFill>
                  <a:srgbClr val="C7CDD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Layer 3 - Streamlit UI: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793790" y="5427702"/>
            <a:ext cx="6313884" cy="8036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1850"/>
              </a:lnSpc>
              <a:buSzPct val="100000"/>
              <a:buChar char="•"/>
            </a:pPr>
            <a:r>
              <a:rPr lang="en-US" sz="1300" dirty="0">
                <a:solidFill>
                  <a:srgbClr val="C7CDD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Command Center Tab (maps, hotspots, spread zones)</a:t>
            </a:r>
            <a:endParaRPr lang="en-US" sz="1300" dirty="0"/>
          </a:p>
          <a:p>
            <a:pPr marL="342900" indent="-342900" algn="l">
              <a:lnSpc>
                <a:spcPts val="1850"/>
              </a:lnSpc>
              <a:buSzPct val="100000"/>
              <a:buChar char="•"/>
            </a:pPr>
            <a:r>
              <a:rPr lang="en-US" sz="1300" dirty="0">
                <a:solidFill>
                  <a:srgbClr val="C7CDD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AI Vision Lab Tab (image analysis, heatmaps)</a:t>
            </a:r>
            <a:endParaRPr lang="en-US" sz="1300" dirty="0"/>
          </a:p>
          <a:p>
            <a:pPr marL="342900" indent="-342900" algn="l">
              <a:lnSpc>
                <a:spcPts val="1850"/>
              </a:lnSpc>
              <a:buSzPct val="100000"/>
              <a:buChar char="•"/>
            </a:pPr>
            <a:r>
              <a:rPr lang="en-US" sz="1300" dirty="0">
                <a:solidFill>
                  <a:srgbClr val="C7CDD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Analytics Tab (trends, charts, statistics)</a:t>
            </a:r>
            <a:endParaRPr lang="en-US" sz="1300" dirty="0"/>
          </a:p>
        </p:txBody>
      </p:sp>
      <p:pic>
        <p:nvPicPr>
          <p:cNvPr id="13" name="Image 1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530346" y="2108597"/>
            <a:ext cx="4735354" cy="4735354"/>
          </a:xfrm>
          <a:prstGeom prst="rect">
            <a:avLst/>
          </a:prstGeom>
        </p:spPr>
      </p:pic>
      <p:pic>
        <p:nvPicPr>
          <p:cNvPr id="14" name="Image 2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530346" y="2108597"/>
            <a:ext cx="4735354" cy="4735354"/>
          </a:xfrm>
          <a:prstGeom prst="rect">
            <a:avLst/>
          </a:prstGeom>
        </p:spPr>
      </p:pic>
      <p:pic>
        <p:nvPicPr>
          <p:cNvPr id="15" name="Picture 14">
            <a:extLst>
              <a:ext uri="{FF2B5EF4-FFF2-40B4-BE49-F238E27FC236}">
                <a16:creationId xmlns:a16="http://schemas.microsoft.com/office/drawing/2014/main" id="{68808ECF-E975-9F15-B159-2FEF4C07CA55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2801600" y="7611806"/>
            <a:ext cx="1727595" cy="57158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548640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267807" y="681633"/>
            <a:ext cx="5302925" cy="66282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200"/>
              </a:lnSpc>
              <a:buNone/>
            </a:pPr>
            <a:r>
              <a:rPr lang="en-US" sz="4150" dirty="0">
                <a:solidFill>
                  <a:srgbClr val="EFD5FA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Testing &amp; Results</a:t>
            </a:r>
            <a:endParaRPr lang="en-US" sz="4150" dirty="0"/>
          </a:p>
        </p:txBody>
      </p:sp>
      <p:sp>
        <p:nvSpPr>
          <p:cNvPr id="4" name="Shape 1"/>
          <p:cNvSpPr/>
          <p:nvPr/>
        </p:nvSpPr>
        <p:spPr>
          <a:xfrm>
            <a:off x="6267807" y="1641991"/>
            <a:ext cx="3691414" cy="3840361"/>
          </a:xfrm>
          <a:prstGeom prst="roundRect">
            <a:avLst>
              <a:gd name="adj" fmla="val 862"/>
            </a:avLst>
          </a:prstGeom>
          <a:solidFill>
            <a:srgbClr val="434348"/>
          </a:solidFill>
          <a:ln/>
        </p:spPr>
      </p:sp>
      <p:sp>
        <p:nvSpPr>
          <p:cNvPr id="5" name="Text 2"/>
          <p:cNvSpPr/>
          <p:nvPr/>
        </p:nvSpPr>
        <p:spPr>
          <a:xfrm>
            <a:off x="6479858" y="1854041"/>
            <a:ext cx="3267313" cy="67032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600"/>
              </a:lnSpc>
              <a:buNone/>
            </a:pPr>
            <a:r>
              <a:rPr lang="en-US" sz="2050" dirty="0">
                <a:solidFill>
                  <a:srgbClr val="000000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✅</a:t>
            </a:r>
            <a:r>
              <a:rPr lang="en-US" sz="2050" dirty="0">
                <a:solidFill>
                  <a:srgbClr val="C7CDD6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 Vision Transformer Performance</a:t>
            </a:r>
            <a:endParaRPr lang="en-US" sz="2050" dirty="0"/>
          </a:p>
        </p:txBody>
      </p:sp>
      <p:sp>
        <p:nvSpPr>
          <p:cNvPr id="6" name="Text 3"/>
          <p:cNvSpPr/>
          <p:nvPr/>
        </p:nvSpPr>
        <p:spPr>
          <a:xfrm>
            <a:off x="6479858" y="2643307"/>
            <a:ext cx="3267313" cy="229862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550"/>
              </a:lnSpc>
              <a:buNone/>
            </a:pPr>
            <a:r>
              <a:rPr lang="en-US" sz="1650" dirty="0">
                <a:solidFill>
                  <a:srgbClr val="C7CDD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96.3% accuracy on test set (378 images). Correctly classifies fire and no-fire images across diverse conditions. Attention heatmaps show model focuses on flames, smoke, and orange/red regions.</a:t>
            </a:r>
            <a:endParaRPr lang="en-US" sz="1650" dirty="0"/>
          </a:p>
        </p:txBody>
      </p:sp>
      <p:sp>
        <p:nvSpPr>
          <p:cNvPr id="7" name="Shape 4"/>
          <p:cNvSpPr/>
          <p:nvPr/>
        </p:nvSpPr>
        <p:spPr>
          <a:xfrm>
            <a:off x="10157579" y="1641991"/>
            <a:ext cx="3691414" cy="3840361"/>
          </a:xfrm>
          <a:prstGeom prst="roundRect">
            <a:avLst>
              <a:gd name="adj" fmla="val 862"/>
            </a:avLst>
          </a:prstGeom>
          <a:solidFill>
            <a:srgbClr val="434348"/>
          </a:solidFill>
          <a:ln/>
        </p:spPr>
      </p:sp>
      <p:sp>
        <p:nvSpPr>
          <p:cNvPr id="8" name="Text 5"/>
          <p:cNvSpPr/>
          <p:nvPr/>
        </p:nvSpPr>
        <p:spPr>
          <a:xfrm>
            <a:off x="10369629" y="1854041"/>
            <a:ext cx="3267313" cy="67032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600"/>
              </a:lnSpc>
              <a:buNone/>
            </a:pPr>
            <a:r>
              <a:rPr lang="en-US" sz="2050" dirty="0">
                <a:solidFill>
                  <a:srgbClr val="000000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🔄</a:t>
            </a:r>
            <a:r>
              <a:rPr lang="en-US" sz="2050" dirty="0">
                <a:solidFill>
                  <a:srgbClr val="C7CDD6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 Random Forest &amp; Integration</a:t>
            </a:r>
            <a:endParaRPr lang="en-US" sz="2050" dirty="0"/>
          </a:p>
        </p:txBody>
      </p:sp>
      <p:sp>
        <p:nvSpPr>
          <p:cNvPr id="9" name="Text 6"/>
          <p:cNvSpPr/>
          <p:nvPr/>
        </p:nvSpPr>
        <p:spPr>
          <a:xfrm>
            <a:off x="10369629" y="2643307"/>
            <a:ext cx="3267313" cy="262699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550"/>
              </a:lnSpc>
              <a:buNone/>
            </a:pPr>
            <a:r>
              <a:rPr lang="en-US" sz="1650" dirty="0">
                <a:solidFill>
                  <a:srgbClr val="C7CDD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~95% accuracy on weather-based risk prediction. Successfully correlates high temp + low humidity + high wind = high risk. NASA FIRMS integration: fetches 1-3 days of global hotspot data with confidence ≥70%.</a:t>
            </a:r>
            <a:endParaRPr lang="en-US" sz="1650" dirty="0"/>
          </a:p>
        </p:txBody>
      </p:sp>
      <p:sp>
        <p:nvSpPr>
          <p:cNvPr id="10" name="Shape 7"/>
          <p:cNvSpPr/>
          <p:nvPr/>
        </p:nvSpPr>
        <p:spPr>
          <a:xfrm>
            <a:off x="6267807" y="5680710"/>
            <a:ext cx="7581186" cy="1867138"/>
          </a:xfrm>
          <a:prstGeom prst="roundRect">
            <a:avLst>
              <a:gd name="adj" fmla="val 1704"/>
            </a:avLst>
          </a:prstGeom>
          <a:solidFill>
            <a:srgbClr val="434348"/>
          </a:solidFill>
          <a:ln/>
        </p:spPr>
      </p:sp>
      <p:sp>
        <p:nvSpPr>
          <p:cNvPr id="11" name="Text 8"/>
          <p:cNvSpPr/>
          <p:nvPr/>
        </p:nvSpPr>
        <p:spPr>
          <a:xfrm>
            <a:off x="6479858" y="5892760"/>
            <a:ext cx="3531156" cy="33897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600"/>
              </a:lnSpc>
              <a:buNone/>
            </a:pPr>
            <a:r>
              <a:rPr lang="en-US" sz="2050" dirty="0">
                <a:solidFill>
                  <a:srgbClr val="000000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📊</a:t>
            </a:r>
            <a:r>
              <a:rPr lang="en-US" sz="2050" dirty="0">
                <a:solidFill>
                  <a:srgbClr val="C7CDD6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 End-to-End Performance</a:t>
            </a:r>
            <a:endParaRPr lang="en-US" sz="2050" dirty="0"/>
          </a:p>
        </p:txBody>
      </p:sp>
      <p:sp>
        <p:nvSpPr>
          <p:cNvPr id="12" name="Text 9"/>
          <p:cNvSpPr/>
          <p:nvPr/>
        </p:nvSpPr>
        <p:spPr>
          <a:xfrm>
            <a:off x="6479858" y="6350675"/>
            <a:ext cx="7157085" cy="98512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550"/>
              </a:lnSpc>
              <a:buNone/>
            </a:pPr>
            <a:r>
              <a:rPr lang="en-US" sz="1650" dirty="0">
                <a:solidFill>
                  <a:srgbClr val="C7CDD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Complete analysis (image + risk + map) in under 10 seconds. Real-time weather and satellite data integration. Displays 12,000+ active fire locations on interactive map.</a:t>
            </a:r>
            <a:endParaRPr lang="en-US" sz="1650" dirty="0"/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458DC726-E376-AD8E-400E-AAF6746A9C5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801600" y="7611806"/>
            <a:ext cx="1727595" cy="57158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1157049"/>
            <a:ext cx="6432352" cy="63793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000"/>
              </a:lnSpc>
              <a:buNone/>
            </a:pPr>
            <a:r>
              <a:rPr lang="en-US" sz="4000" dirty="0">
                <a:solidFill>
                  <a:srgbClr val="EFD5FA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Conclusion &amp; Future Scope</a:t>
            </a:r>
            <a:endParaRPr lang="en-US" sz="4000" dirty="0"/>
          </a:p>
        </p:txBody>
      </p:sp>
      <p:sp>
        <p:nvSpPr>
          <p:cNvPr id="3" name="Text 1"/>
          <p:cNvSpPr/>
          <p:nvPr/>
        </p:nvSpPr>
        <p:spPr>
          <a:xfrm>
            <a:off x="793790" y="2254210"/>
            <a:ext cx="2551748" cy="3188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2000" dirty="0">
                <a:solidFill>
                  <a:srgbClr val="EFD5FA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What We Built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793790" y="2756773"/>
            <a:ext cx="6272451" cy="28036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2400"/>
              </a:lnSpc>
              <a:buSzPct val="100000"/>
              <a:buChar char="•"/>
            </a:pPr>
            <a:r>
              <a:rPr lang="en-US" sz="1600" dirty="0">
                <a:solidFill>
                  <a:srgbClr val="C7CDD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Multimodal wildfire intelligence system integrating 4 data sources</a:t>
            </a:r>
            <a:endParaRPr lang="en-US" sz="1600" dirty="0"/>
          </a:p>
          <a:p>
            <a:pPr marL="342900" indent="-342900" algn="l">
              <a:lnSpc>
                <a:spcPts val="2400"/>
              </a:lnSpc>
              <a:buSzPct val="100000"/>
              <a:buChar char="•"/>
            </a:pPr>
            <a:r>
              <a:rPr lang="en-US" sz="1600" dirty="0">
                <a:solidFill>
                  <a:srgbClr val="C7CDD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96.3% accurate Vision Transformer for fire image classification</a:t>
            </a:r>
            <a:endParaRPr lang="en-US" sz="1600" dirty="0"/>
          </a:p>
          <a:p>
            <a:pPr marL="342900" indent="-342900" algn="l">
              <a:lnSpc>
                <a:spcPts val="2400"/>
              </a:lnSpc>
              <a:buSzPct val="100000"/>
              <a:buChar char="•"/>
            </a:pPr>
            <a:r>
              <a:rPr lang="en-US" sz="1600" dirty="0">
                <a:solidFill>
                  <a:srgbClr val="C7CDD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Real-time satellite integration with NASA FIRMS MODIS data</a:t>
            </a:r>
            <a:endParaRPr lang="en-US" sz="1600" dirty="0"/>
          </a:p>
          <a:p>
            <a:pPr marL="342900" indent="-342900" algn="l">
              <a:lnSpc>
                <a:spcPts val="2400"/>
              </a:lnSpc>
              <a:buSzPct val="100000"/>
              <a:buChar char="•"/>
            </a:pPr>
            <a:r>
              <a:rPr lang="en-US" sz="1600" dirty="0">
                <a:solidFill>
                  <a:srgbClr val="C7CDD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Weather-based risk prediction using Random Forest ML</a:t>
            </a:r>
            <a:endParaRPr lang="en-US" sz="1600" dirty="0"/>
          </a:p>
          <a:p>
            <a:pPr marL="342900" indent="-342900" algn="l">
              <a:lnSpc>
                <a:spcPts val="2400"/>
              </a:lnSpc>
              <a:buSzPct val="100000"/>
              <a:buChar char="•"/>
            </a:pPr>
            <a:r>
              <a:rPr lang="en-US" sz="1600" dirty="0">
                <a:solidFill>
                  <a:srgbClr val="C7CDD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Interactive dashboard with maps, charts, and visualizations</a:t>
            </a:r>
            <a:endParaRPr lang="en-US" sz="1600" dirty="0"/>
          </a:p>
          <a:p>
            <a:pPr marL="342900" indent="-342900" algn="l">
              <a:lnSpc>
                <a:spcPts val="2400"/>
              </a:lnSpc>
              <a:buSzPct val="100000"/>
              <a:buChar char="•"/>
            </a:pPr>
            <a:r>
              <a:rPr lang="en-US" sz="1600" dirty="0">
                <a:solidFill>
                  <a:srgbClr val="C7CDD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Attention heatmap explainability for AI transparency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7571780" y="2254210"/>
            <a:ext cx="2551748" cy="3188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2000" dirty="0">
                <a:solidFill>
                  <a:srgbClr val="EFD5FA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What Comes Next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7571780" y="2756773"/>
            <a:ext cx="6272451" cy="342423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2400"/>
              </a:lnSpc>
              <a:buSzPct val="100000"/>
              <a:buChar char="•"/>
            </a:pPr>
            <a:r>
              <a:rPr lang="en-US" sz="1600" dirty="0">
                <a:solidFill>
                  <a:srgbClr val="C7CDD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Enhanced spread modeling - Integrate Rothermel physics-based fire behavior</a:t>
            </a:r>
            <a:endParaRPr lang="en-US" sz="1600" dirty="0"/>
          </a:p>
          <a:p>
            <a:pPr marL="342900" indent="-342900" algn="l">
              <a:lnSpc>
                <a:spcPts val="2400"/>
              </a:lnSpc>
              <a:buSzPct val="100000"/>
              <a:buChar char="•"/>
            </a:pPr>
            <a:r>
              <a:rPr lang="en-US" sz="1600" dirty="0">
                <a:solidFill>
                  <a:srgbClr val="C7CDD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Historical fire database - Train on real MODIS archive data</a:t>
            </a:r>
            <a:endParaRPr lang="en-US" sz="1600" dirty="0"/>
          </a:p>
          <a:p>
            <a:pPr marL="342900" indent="-342900" algn="l">
              <a:lnSpc>
                <a:spcPts val="2400"/>
              </a:lnSpc>
              <a:buSzPct val="100000"/>
              <a:buChar char="•"/>
            </a:pPr>
            <a:r>
              <a:rPr lang="en-US" sz="1600" dirty="0">
                <a:solidFill>
                  <a:srgbClr val="C7CDD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Multi-class classification - Detect fire intensity levels (low/medium/high)</a:t>
            </a:r>
            <a:endParaRPr lang="en-US" sz="1600" dirty="0"/>
          </a:p>
          <a:p>
            <a:pPr marL="342900" indent="-342900" algn="l">
              <a:lnSpc>
                <a:spcPts val="2400"/>
              </a:lnSpc>
              <a:buSzPct val="100000"/>
              <a:buChar char="•"/>
            </a:pPr>
            <a:r>
              <a:rPr lang="en-US" sz="1600" dirty="0">
                <a:solidFill>
                  <a:srgbClr val="C7CDD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Video stream processing - Real-time analysis of drone/surveillance feeds</a:t>
            </a:r>
            <a:endParaRPr lang="en-US" sz="1600" dirty="0"/>
          </a:p>
          <a:p>
            <a:pPr marL="342900" indent="-342900" algn="l">
              <a:lnSpc>
                <a:spcPts val="2400"/>
              </a:lnSpc>
              <a:buSzPct val="100000"/>
              <a:buChar char="•"/>
            </a:pPr>
            <a:r>
              <a:rPr lang="en-US" sz="1600" dirty="0">
                <a:solidFill>
                  <a:srgbClr val="C7CDD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Mobile application - iOS/Android app for field use by firefighters</a:t>
            </a:r>
            <a:endParaRPr lang="en-US" sz="1600" dirty="0"/>
          </a:p>
          <a:p>
            <a:pPr marL="342900" indent="-342900" algn="l">
              <a:lnSpc>
                <a:spcPts val="2400"/>
              </a:lnSpc>
              <a:buSzPct val="100000"/>
              <a:buChar char="•"/>
            </a:pPr>
            <a:r>
              <a:rPr lang="en-US" sz="1600" dirty="0">
                <a:solidFill>
                  <a:srgbClr val="C7CDD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Smoke detection - Early warning before visible flames appear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793790" y="6451997"/>
            <a:ext cx="13042821" cy="62055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1600" dirty="0">
                <a:solidFill>
                  <a:srgbClr val="C7CDD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PyroWatch demonstrates the power of multimodal AI for wildfire management — combining deep learning, satellite remote sensing, and meteorological intelligence into a unified decision support platform.</a:t>
            </a:r>
            <a:endParaRPr lang="en-US" sz="1600" dirty="0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4AFCF7FC-F43B-323D-0923-B00E4FE4E51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01600" y="7611806"/>
            <a:ext cx="1727595" cy="57158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</TotalTime>
  <Words>957</Words>
  <Application>Microsoft Office PowerPoint</Application>
  <PresentationFormat>Custom</PresentationFormat>
  <Paragraphs>94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4" baseType="lpstr">
      <vt:lpstr>Inter</vt:lpstr>
      <vt:lpstr>Instrument Sans Medium</vt:lpstr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lastModifiedBy>SPARSH KUMAR</cp:lastModifiedBy>
  <cp:revision>3</cp:revision>
  <dcterms:created xsi:type="dcterms:W3CDTF">2026-04-16T20:11:02Z</dcterms:created>
  <dcterms:modified xsi:type="dcterms:W3CDTF">2026-04-17T04:08:13Z</dcterms:modified>
</cp:coreProperties>
</file>